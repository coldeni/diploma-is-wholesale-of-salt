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66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>
        <p:scale>
          <a:sx n="75" d="100"/>
          <a:sy n="75" d="100"/>
        </p:scale>
        <p:origin x="1409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EB3A5-4FC5-D09F-9965-21C4152A3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DE0DF6-8D8A-D601-1B49-1F2167783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C6B991-7527-7C99-4F34-7A74BADE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E9AC2-2C92-6670-C992-E981CBB4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413177-2607-0C4A-588A-5099C615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72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700DB-B5B5-A626-97CD-77F9084B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D6B66-8237-3720-5CE0-8A22A3A2B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4AF888-BAF6-9B08-4DB9-6A4F8121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C9C941-6827-30EB-AC77-671A9C1B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8A030B-E607-A2C0-EDFD-333A7FC9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845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F26576-49D5-AB80-8C86-05B15F60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2E9DBC-A192-D29A-242A-082D72640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1D8900-4A72-8811-31F3-A9A43FCF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AFBD00-75B5-4811-5718-46AF7728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6058CB-690E-B12D-36E8-CC3D0649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7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2CE6D-0528-DD2C-BCE0-E6E2404C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566757-0229-8A48-3A4E-2A85AA23B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2C17F6-B890-E7D7-E6B5-CFFB44F67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9827AD-6547-ADC4-66DE-A53612EB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5C8467-EDC7-E793-BA0A-E6F9D882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0F38A2-DA8B-2168-A75E-D0216FE7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68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D119D-9FC5-007E-663A-9B61F94C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FDF4C1-F6D8-D521-EB01-E2F919E5C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0626B9-A90C-8A6F-E428-E27EB923A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1448B6-F389-1F2D-08A4-D1BEA12DD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E0E345-ED4C-D81E-7297-6B0390F36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055C6C-B1B2-6676-2B59-B9DCBA6C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19EBD1-BDDD-DA8A-B685-1957D52E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390F9B-74E6-1505-C020-777DF43B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45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9F448-9B0B-CC86-8750-29E1AECC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8EE533-F7CA-054E-CF57-28FD8E17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4DFC5C-5F6F-E264-4732-BA5296CE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81C540-520D-3274-4ED1-F8E0DE59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66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7A49455-C2CC-E423-775F-DB8C81588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20BB38-9F4D-073B-22B7-9427066F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2F009C-FC9F-D8D0-FAE3-EE0D38C4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26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4E7C9-767F-4C1A-BD65-7903069D9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4CB89B-CC93-9E47-E037-8BF4F8D7D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974CAA-26D1-0377-DBBD-D92CB1A13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295FA6-C3DA-7515-6A17-DAD2918C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20EB96-0CD1-82CA-C995-46633FBA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E6A949-F91A-CC87-22F6-B5D4EC842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68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A52DD-CC4D-5435-863D-2161F30A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A047E2-71FB-BDF4-FC2B-2C631962E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33A872-258E-D542-FB41-51F278673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86BDBA-A77E-3425-7739-87FB2B02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4D1CFA-308F-AF13-9D0A-CD59040C6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267F2F-42F1-76D9-2D0E-212BED744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13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C50FE-0EBF-7894-5585-B89889FC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573E8D-A48A-BE7B-914F-FA36F8479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21A4D9-511D-16DA-2FA3-B6CADE8B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983A28-DDE4-80F6-222D-E343848DA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8694FB-DBAF-B330-3D70-C39F57C3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0415DD-048C-2C3B-0FA6-71F40EA99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AC1352-BAC1-D50E-4391-29B56FE4C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7369A7-F871-0B05-BED8-55C0ECC6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24600-2437-9A0C-65CE-37724A93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51B06C-9CEF-5A0A-3AB5-42BE35CC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12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ACB07B-F101-8E90-90AB-D7B4D4C6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BBD8A8-B238-1793-B18D-51F7696BF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F9803D-5478-80CC-B685-CDE1B6A74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781F2-646F-438A-839B-1922E67681C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C7F91-41F9-943A-1E29-B4BAE57E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7F878D-5975-7728-8108-97D5802D2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58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EFFD2-4FC1-C293-EC32-6097FBCBF519}"/>
              </a:ext>
            </a:extLst>
          </p:cNvPr>
          <p:cNvSpPr txBox="1"/>
          <p:nvPr/>
        </p:nvSpPr>
        <p:spPr>
          <a:xfrm>
            <a:off x="962025" y="371475"/>
            <a:ext cx="102679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МИНОБРНАУКИ РОССИИ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высшего образования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«Гжельский государственный университет»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(ГГУ)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Колледж ГГУ</a:t>
            </a:r>
          </a:p>
          <a:p>
            <a:pPr algn="ctr"/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Информационные системы и программирование</a:t>
            </a:r>
          </a:p>
          <a:p>
            <a:pPr algn="ctr"/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 обучения - очная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EA3F0-371D-DE11-0F70-2EF60FA4132C}"/>
              </a:ext>
            </a:extLst>
          </p:cNvPr>
          <p:cNvSpPr txBox="1"/>
          <p:nvPr/>
        </p:nvSpPr>
        <p:spPr>
          <a:xfrm>
            <a:off x="601406" y="2543567"/>
            <a:ext cx="10989183" cy="12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Презентация по дипломному проекту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на тему: «Разработка информационной системы предприятия оптовой торговли»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F9E88-904F-55E0-FAAA-7A30A9504811}"/>
              </a:ext>
            </a:extLst>
          </p:cNvPr>
          <p:cNvSpPr txBox="1"/>
          <p:nvPr/>
        </p:nvSpPr>
        <p:spPr>
          <a:xfrm>
            <a:off x="4462461" y="6211669"/>
            <a:ext cx="3267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пос.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Электроизолятор 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2025 год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E3A78-6E88-1C25-CBFF-1992BF7FBAF4}"/>
              </a:ext>
            </a:extLst>
          </p:cNvPr>
          <p:cNvSpPr txBox="1"/>
          <p:nvPr/>
        </p:nvSpPr>
        <p:spPr>
          <a:xfrm>
            <a:off x="1267206" y="3975392"/>
            <a:ext cx="10182225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Выполнила: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Вербицкая Елена Алексеевна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		            студентка группы ИСП-О-22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    Руководитель: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Зимина Анна Сергеевна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Преподаватель колледжа</a:t>
            </a:r>
          </a:p>
        </p:txBody>
      </p:sp>
    </p:spTree>
    <p:extLst>
      <p:ext uri="{BB962C8B-B14F-4D97-AF65-F5344CB8AC3E}">
        <p14:creationId xmlns:p14="http://schemas.microsoft.com/office/powerpoint/2010/main" val="372508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D83EB-CC76-68C1-33F5-B81E53E549E3}"/>
              </a:ext>
            </a:extLst>
          </p:cNvPr>
          <p:cNvSpPr txBox="1">
            <a:spLocks/>
          </p:cNvSpPr>
          <p:nvPr/>
        </p:nvSpPr>
        <p:spPr>
          <a:xfrm>
            <a:off x="838200" y="216403"/>
            <a:ext cx="10515600" cy="8122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17F98-C1AA-BD4E-E3AD-13F94B211267}"/>
              </a:ext>
            </a:extLst>
          </p:cNvPr>
          <p:cNvSpPr txBox="1"/>
          <p:nvPr/>
        </p:nvSpPr>
        <p:spPr>
          <a:xfrm>
            <a:off x="444499" y="1028699"/>
            <a:ext cx="11303001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Современные условия требуют автоматизации бизнес-процессов в оптовой торговле для улучшения управления ресурсами, обмена информацией и повышения оперативности. Информационные системы обеспечивают прозрачность и снижают ошибки. Централизованный контроль важен при сложных логистических цепочках.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Этот проект направлен на повышение эффективности управления, снижение затрат и автоматизацию процессов. Ручная обработка заказов и неэффективный складской учёт замедляют процессы. Внедрение системы сокращает расходы и повышает конкурентоспособность.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Объект исследования — предприятие оптовой торговли, предмет — бизнес-процессы продаж и склада.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Проект важен для автоматизации бизнес-процессов в оптовой торговле.</a:t>
            </a:r>
          </a:p>
          <a:p>
            <a:pPr algn="just">
              <a:lnSpc>
                <a:spcPct val="15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04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D2AFC1-991A-2EED-5111-0F4D7ECE7102}"/>
              </a:ext>
            </a:extLst>
          </p:cNvPr>
          <p:cNvSpPr txBox="1"/>
          <p:nvPr/>
        </p:nvSpPr>
        <p:spPr>
          <a:xfrm>
            <a:off x="946150" y="3143284"/>
            <a:ext cx="77597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Анализ предметной области и существующих систем.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Изучение решений для проектирования.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Формулирование требований.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Разработка архитектуры.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Создание макетов интерфейса.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Разработка базы данных и модулей.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Подготовка документации.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1D4BB-55AA-2EAB-8FF2-285A72C64CC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работы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FFBDD535-3A45-8A79-C0DD-2FCF36EBA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690630"/>
            <a:ext cx="1536700" cy="15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0BFD767B-FAC5-95A7-2204-F8779D9D7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1" y="3876675"/>
            <a:ext cx="596265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25431F-35E1-2ADC-1929-463665662F3A}"/>
              </a:ext>
            </a:extLst>
          </p:cNvPr>
          <p:cNvSpPr txBox="1"/>
          <p:nvPr/>
        </p:nvSpPr>
        <p:spPr>
          <a:xfrm>
            <a:off x="2413000" y="1295744"/>
            <a:ext cx="9436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дипломного проекта — разработка информационной системы для автоматизации бизнеса оптовой торговли. Система должна эффективно управлять заказами, услугами, складскими запасами, клиентами, поставщиками, товарами и сотрудниками.</a:t>
            </a:r>
          </a:p>
        </p:txBody>
      </p:sp>
    </p:spTree>
    <p:extLst>
      <p:ext uri="{BB962C8B-B14F-4D97-AF65-F5344CB8AC3E}">
        <p14:creationId xmlns:p14="http://schemas.microsoft.com/office/powerpoint/2010/main" val="299701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77447-D9CE-C348-FA5A-E57DDB09F36D}"/>
              </a:ext>
            </a:extLst>
          </p:cNvPr>
          <p:cNvSpPr txBox="1">
            <a:spLocks/>
          </p:cNvSpPr>
          <p:nvPr/>
        </p:nvSpPr>
        <p:spPr>
          <a:xfrm>
            <a:off x="838199" y="206376"/>
            <a:ext cx="10515600" cy="8445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Контекстная 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A98305-CAD3-FFCA-753E-775C0D163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176" y="936624"/>
            <a:ext cx="6775646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4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3BFD17-B8B2-5F31-D8AE-DA5DACFA8DAF}"/>
              </a:ext>
            </a:extLst>
          </p:cNvPr>
          <p:cNvSpPr txBox="1">
            <a:spLocks/>
          </p:cNvSpPr>
          <p:nvPr/>
        </p:nvSpPr>
        <p:spPr>
          <a:xfrm>
            <a:off x="838199" y="184150"/>
            <a:ext cx="10515600" cy="10445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декомпозиции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5D6D9A-E4B0-D85B-707E-1738C8452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04" b="1"/>
          <a:stretch>
            <a:fillRect/>
          </a:stretch>
        </p:blipFill>
        <p:spPr>
          <a:xfrm>
            <a:off x="292100" y="722377"/>
            <a:ext cx="11607800" cy="596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0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F24AC-86A3-DB80-A4FD-2144DA9B6C0A}"/>
              </a:ext>
            </a:extLst>
          </p:cNvPr>
          <p:cNvSpPr txBox="1">
            <a:spLocks/>
          </p:cNvSpPr>
          <p:nvPr/>
        </p:nvSpPr>
        <p:spPr>
          <a:xfrm>
            <a:off x="838200" y="129071"/>
            <a:ext cx="10515600" cy="1035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DFD-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051BCD-95CB-AC7A-E22B-48F6FEEB3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814" y="814991"/>
            <a:ext cx="9228372" cy="582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3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2826D-F354-689D-87C5-D352EDB734D0}"/>
              </a:ext>
            </a:extLst>
          </p:cNvPr>
          <p:cNvSpPr txBox="1">
            <a:spLocks/>
          </p:cNvSpPr>
          <p:nvPr/>
        </p:nvSpPr>
        <p:spPr>
          <a:xfrm>
            <a:off x="760141" y="185062"/>
            <a:ext cx="10515600" cy="10731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CABCCC-EAA7-772F-2D2B-7D9307CE7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098" y="763802"/>
            <a:ext cx="9011803" cy="590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6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AA970-A30F-A2C4-BBF1-0B393498FB60}"/>
              </a:ext>
            </a:extLst>
          </p:cNvPr>
          <p:cNvSpPr txBox="1">
            <a:spLocks/>
          </p:cNvSpPr>
          <p:nvPr/>
        </p:nvSpPr>
        <p:spPr>
          <a:xfrm>
            <a:off x="838200" y="220161"/>
            <a:ext cx="10515600" cy="8826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412465-ADF6-45FB-AFAA-E7B60D329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276" y="946126"/>
            <a:ext cx="6043448" cy="5691713"/>
          </a:xfrm>
          <a:prstGeom prst="rect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2014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059FD-05BD-9B97-58E3-F9A1438A5B4B}"/>
              </a:ext>
            </a:extLst>
          </p:cNvPr>
          <p:cNvSpPr txBox="1">
            <a:spLocks/>
          </p:cNvSpPr>
          <p:nvPr/>
        </p:nvSpPr>
        <p:spPr>
          <a:xfrm>
            <a:off x="838200" y="174626"/>
            <a:ext cx="10515600" cy="9969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USE-CASE </a:t>
            </a:r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1413A3-A75B-7F14-C33B-A996572E7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940" y="806370"/>
            <a:ext cx="5564120" cy="58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1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BB232-6638-8552-D0B7-ECFBDBC0ECA8}"/>
              </a:ext>
            </a:extLst>
          </p:cNvPr>
          <p:cNvSpPr txBox="1">
            <a:spLocks/>
          </p:cNvSpPr>
          <p:nvPr/>
        </p:nvSpPr>
        <p:spPr>
          <a:xfrm>
            <a:off x="838200" y="79646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4EA3C1-FC8A-6C65-1E95-9CB2F724F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225" y="2327530"/>
            <a:ext cx="4391638" cy="24482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9270D2-3C60-B4E9-7285-6CC449243F0A}"/>
              </a:ext>
            </a:extLst>
          </p:cNvPr>
          <p:cNvSpPr txBox="1"/>
          <p:nvPr/>
        </p:nvSpPr>
        <p:spPr>
          <a:xfrm>
            <a:off x="4785732" y="1827657"/>
            <a:ext cx="218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авторизации</a:t>
            </a:r>
          </a:p>
        </p:txBody>
      </p:sp>
    </p:spTree>
    <p:extLst>
      <p:ext uri="{BB962C8B-B14F-4D97-AF65-F5344CB8AC3E}">
        <p14:creationId xmlns:p14="http://schemas.microsoft.com/office/powerpoint/2010/main" val="54043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34B2E-E041-62FF-D6B7-058593E8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3D0AE-E8D3-A262-95A3-AFAC4E95B82E}"/>
              </a:ext>
            </a:extLst>
          </p:cNvPr>
          <p:cNvSpPr txBox="1">
            <a:spLocks/>
          </p:cNvSpPr>
          <p:nvPr/>
        </p:nvSpPr>
        <p:spPr>
          <a:xfrm>
            <a:off x="-356079" y="-73075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окно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41C425-F461-22B4-AC85-5C9CEDFA6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01" y="1418789"/>
            <a:ext cx="4243840" cy="235030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E4BB7-8456-E3E3-B6F1-BE56FDBB3DA5}"/>
              </a:ext>
            </a:extLst>
          </p:cNvPr>
          <p:cNvSpPr txBox="1"/>
          <p:nvPr/>
        </p:nvSpPr>
        <p:spPr>
          <a:xfrm>
            <a:off x="1184678" y="1009551"/>
            <a:ext cx="2497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администратора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EA964A-90F7-C2D8-684B-79EA3F8C6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08"/>
          <a:stretch>
            <a:fillRect/>
          </a:stretch>
        </p:blipFill>
        <p:spPr>
          <a:xfrm>
            <a:off x="6557918" y="4955911"/>
            <a:ext cx="4227231" cy="173602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561FEE-1CF0-8449-4D9F-17EBD303C8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86"/>
          <a:stretch>
            <a:fillRect/>
          </a:stretch>
        </p:blipFill>
        <p:spPr>
          <a:xfrm>
            <a:off x="328010" y="4495453"/>
            <a:ext cx="4227231" cy="176854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CFBD97-E9B0-01F1-3701-E0EA8198EE47}"/>
              </a:ext>
            </a:extLst>
          </p:cNvPr>
          <p:cNvSpPr txBox="1"/>
          <p:nvPr/>
        </p:nvSpPr>
        <p:spPr>
          <a:xfrm>
            <a:off x="777309" y="4077910"/>
            <a:ext cx="3128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менеджера по услугам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B5852C-7879-A026-8620-4D43880CFFB6}"/>
              </a:ext>
            </a:extLst>
          </p:cNvPr>
          <p:cNvSpPr txBox="1"/>
          <p:nvPr/>
        </p:nvSpPr>
        <p:spPr>
          <a:xfrm>
            <a:off x="7110432" y="4538546"/>
            <a:ext cx="31222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менеджера по товарам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4490DB5-2C38-2199-5160-26FFD87A1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721" y="1017042"/>
            <a:ext cx="7127940" cy="3521504"/>
          </a:xfrm>
          <a:prstGeom prst="rect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110270-FBD1-4D62-F93A-B267E0F742E4}"/>
              </a:ext>
            </a:extLst>
          </p:cNvPr>
          <p:cNvSpPr txBox="1"/>
          <p:nvPr/>
        </p:nvSpPr>
        <p:spPr>
          <a:xfrm>
            <a:off x="7110432" y="595982"/>
            <a:ext cx="3719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работника склада</a:t>
            </a:r>
          </a:p>
        </p:txBody>
      </p:sp>
    </p:spTree>
    <p:extLst>
      <p:ext uri="{BB962C8B-B14F-4D97-AF65-F5344CB8AC3E}">
        <p14:creationId xmlns:p14="http://schemas.microsoft.com/office/powerpoint/2010/main" val="277583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235A-5917-21C0-8D19-5A7E2001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9B6CD-BE45-F7A1-C382-874D40A2A80B}"/>
              </a:ext>
            </a:extLst>
          </p:cNvPr>
          <p:cNvSpPr txBox="1">
            <a:spLocks/>
          </p:cNvSpPr>
          <p:nvPr/>
        </p:nvSpPr>
        <p:spPr>
          <a:xfrm>
            <a:off x="838200" y="79646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6F861-73E9-F19C-BC21-7F873F83678A}"/>
              </a:ext>
            </a:extLst>
          </p:cNvPr>
          <p:cNvSpPr txBox="1"/>
          <p:nvPr/>
        </p:nvSpPr>
        <p:spPr>
          <a:xfrm>
            <a:off x="2374669" y="1717093"/>
            <a:ext cx="1862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заказов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26471C-BB1F-7612-93E5-4F5107208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15" y="2140485"/>
            <a:ext cx="5736343" cy="310941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786E64-BD14-7DA5-D834-05B6D3052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043" y="2283073"/>
            <a:ext cx="5239301" cy="282424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380D4A-3CC8-614C-E75A-B5ABB70A4783}"/>
              </a:ext>
            </a:extLst>
          </p:cNvPr>
          <p:cNvSpPr txBox="1"/>
          <p:nvPr/>
        </p:nvSpPr>
        <p:spPr>
          <a:xfrm>
            <a:off x="8285355" y="1717093"/>
            <a:ext cx="2028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заказов</a:t>
            </a:r>
          </a:p>
        </p:txBody>
      </p:sp>
    </p:spTree>
    <p:extLst>
      <p:ext uri="{BB962C8B-B14F-4D97-AF65-F5344CB8AC3E}">
        <p14:creationId xmlns:p14="http://schemas.microsoft.com/office/powerpoint/2010/main" val="1924739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350C-B3AB-9610-CEF5-597C638E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8EDB52-63E0-62D4-699F-AF36685F1B9A}"/>
              </a:ext>
            </a:extLst>
          </p:cNvPr>
          <p:cNvSpPr txBox="1"/>
          <p:nvPr/>
        </p:nvSpPr>
        <p:spPr>
          <a:xfrm>
            <a:off x="2282309" y="808087"/>
            <a:ext cx="1667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услуг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81DD5-6C53-DCC1-00D9-F637B6F0DB2E}"/>
              </a:ext>
            </a:extLst>
          </p:cNvPr>
          <p:cNvSpPr txBox="1"/>
          <p:nvPr/>
        </p:nvSpPr>
        <p:spPr>
          <a:xfrm>
            <a:off x="5753323" y="4331426"/>
            <a:ext cx="1164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84E51D-DE99-3CB0-67CA-BCD16F08B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54" y="1251214"/>
            <a:ext cx="5480355" cy="295454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7EA8C5C-7696-5340-67CC-2B1AA864E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791" y="1244787"/>
            <a:ext cx="5480355" cy="296097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5FCF9F9-E532-2B84-646A-29C32AE1D2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876" y="4770579"/>
            <a:ext cx="3423829" cy="192466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5818C1D-D1F9-194D-4365-50F7EA781D9E}"/>
              </a:ext>
            </a:extLst>
          </p:cNvPr>
          <p:cNvSpPr txBox="1"/>
          <p:nvPr/>
        </p:nvSpPr>
        <p:spPr>
          <a:xfrm>
            <a:off x="7747627" y="863729"/>
            <a:ext cx="2896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оказанный услуг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9569A608-922F-559D-ECE7-1517616A0277}"/>
              </a:ext>
            </a:extLst>
          </p:cNvPr>
          <p:cNvSpPr txBox="1">
            <a:spLocks/>
          </p:cNvSpPr>
          <p:nvPr/>
        </p:nvSpPr>
        <p:spPr>
          <a:xfrm>
            <a:off x="838200" y="-136254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704807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9272-1417-2098-D91F-B6C8AAAAE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DD6F6D-1177-3158-2E8B-31D136F7180B}"/>
              </a:ext>
            </a:extLst>
          </p:cNvPr>
          <p:cNvSpPr txBox="1">
            <a:spLocks/>
          </p:cNvSpPr>
          <p:nvPr/>
        </p:nvSpPr>
        <p:spPr>
          <a:xfrm>
            <a:off x="838200" y="-9254"/>
            <a:ext cx="10515600" cy="73768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20283-1AD4-9DF3-EA2E-2FA008FB0437}"/>
              </a:ext>
            </a:extLst>
          </p:cNvPr>
          <p:cNvSpPr txBox="1"/>
          <p:nvPr/>
        </p:nvSpPr>
        <p:spPr>
          <a:xfrm>
            <a:off x="2374669" y="1717093"/>
            <a:ext cx="1862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заказов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F2C0E-0B27-D033-30ED-DF259141825A}"/>
              </a:ext>
            </a:extLst>
          </p:cNvPr>
          <p:cNvSpPr txBox="1"/>
          <p:nvPr/>
        </p:nvSpPr>
        <p:spPr>
          <a:xfrm>
            <a:off x="8222164" y="4175049"/>
            <a:ext cx="2076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товаров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B10223-8C31-9EF9-C0C8-7078971A6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86" y="1118746"/>
            <a:ext cx="5534797" cy="298063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89C945E-0BE0-15F7-EE6B-ADEA40E4D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86" y="1118746"/>
            <a:ext cx="5534797" cy="299801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8B5A920-6704-7A0C-70FD-3A11FA488A09}"/>
              </a:ext>
            </a:extLst>
          </p:cNvPr>
          <p:cNvSpPr txBox="1"/>
          <p:nvPr/>
        </p:nvSpPr>
        <p:spPr>
          <a:xfrm>
            <a:off x="2452766" y="711441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Склад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1A31C4-B0A5-042E-D31D-F43818EA41C0}"/>
              </a:ext>
            </a:extLst>
          </p:cNvPr>
          <p:cNvSpPr txBox="1"/>
          <p:nvPr/>
        </p:nvSpPr>
        <p:spPr>
          <a:xfrm>
            <a:off x="8403015" y="728432"/>
            <a:ext cx="1910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товаров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E7E273F-3DB8-28FA-50C9-C2B5056402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01" y="4889208"/>
            <a:ext cx="5333365" cy="1426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7BD6F56-5F5F-5DC9-70B7-BF02477860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134" y="4575159"/>
            <a:ext cx="2910475" cy="20549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8EE3CC6-C700-3E65-E211-1A9C7CAB8DA3}"/>
              </a:ext>
            </a:extLst>
          </p:cNvPr>
          <p:cNvSpPr txBox="1"/>
          <p:nvPr/>
        </p:nvSpPr>
        <p:spPr>
          <a:xfrm>
            <a:off x="2016225" y="4375104"/>
            <a:ext cx="1953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склада</a:t>
            </a:r>
          </a:p>
        </p:txBody>
      </p:sp>
    </p:spTree>
    <p:extLst>
      <p:ext uri="{BB962C8B-B14F-4D97-AF65-F5344CB8AC3E}">
        <p14:creationId xmlns:p14="http://schemas.microsoft.com/office/powerpoint/2010/main" val="242550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0F20-D9DB-2EB2-F3F0-AE8433E2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05B60-6190-7F75-34AF-48589B1B6874}"/>
              </a:ext>
            </a:extLst>
          </p:cNvPr>
          <p:cNvSpPr txBox="1">
            <a:spLocks/>
          </p:cNvSpPr>
          <p:nvPr/>
        </p:nvSpPr>
        <p:spPr>
          <a:xfrm>
            <a:off x="838200" y="-9254"/>
            <a:ext cx="10515600" cy="73768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B4EF9-5B98-5141-21D4-2ECC2ADCCEBB}"/>
              </a:ext>
            </a:extLst>
          </p:cNvPr>
          <p:cNvSpPr txBox="1"/>
          <p:nvPr/>
        </p:nvSpPr>
        <p:spPr>
          <a:xfrm>
            <a:off x="8001572" y="4335501"/>
            <a:ext cx="2663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поставщиков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F4730A-0ADC-CDE1-D8EA-5A67FA5D55FE}"/>
              </a:ext>
            </a:extLst>
          </p:cNvPr>
          <p:cNvSpPr txBox="1"/>
          <p:nvPr/>
        </p:nvSpPr>
        <p:spPr>
          <a:xfrm>
            <a:off x="2051323" y="711441"/>
            <a:ext cx="2064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клиентов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BE0A83-4EC1-5E22-389A-36ABF4ED7246}"/>
              </a:ext>
            </a:extLst>
          </p:cNvPr>
          <p:cNvSpPr txBox="1"/>
          <p:nvPr/>
        </p:nvSpPr>
        <p:spPr>
          <a:xfrm>
            <a:off x="8001572" y="728432"/>
            <a:ext cx="2497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поставщиков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371CC3-D9ED-3812-D240-10104C1D9839}"/>
              </a:ext>
            </a:extLst>
          </p:cNvPr>
          <p:cNvSpPr txBox="1"/>
          <p:nvPr/>
        </p:nvSpPr>
        <p:spPr>
          <a:xfrm>
            <a:off x="2051323" y="4339836"/>
            <a:ext cx="2230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клиентов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CADDCB-5AB6-533B-DDCF-8A75ECBB1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65" y="4757913"/>
            <a:ext cx="4048125" cy="1920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8CD5F1-9C71-67B6-D7F7-974F53264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67" y="1106161"/>
            <a:ext cx="5669528" cy="3087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E51F23-A35A-4C25-0FD8-3A52A283C6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68" y="4877170"/>
            <a:ext cx="4070350" cy="155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27436A-C8F0-398F-6321-92D1F5222D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560" y="1135892"/>
            <a:ext cx="5669528" cy="3058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9234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EC10-6C28-DD81-C7AC-9C63E04C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8FE67-3B21-471D-7B19-58AC5DB3DEE9}"/>
              </a:ext>
            </a:extLst>
          </p:cNvPr>
          <p:cNvSpPr txBox="1">
            <a:spLocks/>
          </p:cNvSpPr>
          <p:nvPr/>
        </p:nvSpPr>
        <p:spPr>
          <a:xfrm>
            <a:off x="838200" y="-9254"/>
            <a:ext cx="10515600" cy="73768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B472F4-3A1D-A526-CFEA-9B5A952F9593}"/>
              </a:ext>
            </a:extLst>
          </p:cNvPr>
          <p:cNvSpPr txBox="1"/>
          <p:nvPr/>
        </p:nvSpPr>
        <p:spPr>
          <a:xfrm>
            <a:off x="7809321" y="4120637"/>
            <a:ext cx="25898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авторизации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D528E9-B937-3B15-5E0B-9B8866B22506}"/>
              </a:ext>
            </a:extLst>
          </p:cNvPr>
          <p:cNvSpPr txBox="1"/>
          <p:nvPr/>
        </p:nvSpPr>
        <p:spPr>
          <a:xfrm>
            <a:off x="2051323" y="711441"/>
            <a:ext cx="24216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сотрудников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8ECED-FEE2-0B4B-8373-7F62F935CFAD}"/>
              </a:ext>
            </a:extLst>
          </p:cNvPr>
          <p:cNvSpPr txBox="1"/>
          <p:nvPr/>
        </p:nvSpPr>
        <p:spPr>
          <a:xfrm>
            <a:off x="8001572" y="728432"/>
            <a:ext cx="242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авторизации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A1122E-47BB-00BD-10E0-57E5B3F9D080}"/>
              </a:ext>
            </a:extLst>
          </p:cNvPr>
          <p:cNvSpPr txBox="1"/>
          <p:nvPr/>
        </p:nvSpPr>
        <p:spPr>
          <a:xfrm>
            <a:off x="2051323" y="4120637"/>
            <a:ext cx="2587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сотрудников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D7DB5F-F61A-19D3-8832-4A9EC00A1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34" y="1139606"/>
            <a:ext cx="5648665" cy="27172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3AD8B0-A5EB-D65D-DE13-BC8E956EC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218" y="4735611"/>
            <a:ext cx="3545840" cy="1706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2E5573-9D10-2124-7317-5830B2AF4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326" y="4619868"/>
            <a:ext cx="3121660" cy="17862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473DF85-E3B3-85D1-C0CC-8A25F38786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144" y="1269945"/>
            <a:ext cx="5596167" cy="2456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2657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36222-8EFE-A8DB-C09F-2082A5D430B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92808-F366-579F-4486-6678136A8BF3}"/>
              </a:ext>
            </a:extLst>
          </p:cNvPr>
          <p:cNvSpPr txBox="1"/>
          <p:nvPr/>
        </p:nvSpPr>
        <p:spPr>
          <a:xfrm>
            <a:off x="581722" y="1282390"/>
            <a:ext cx="11028556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ходе выполнения дипломного проекта разработана информационная система для автоматизации оптовой торговли. 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Проект включал анализ, проектирование (IDEF0, DFD, ER,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-Case), разработку и тестирование. Система автоматизирует учёт заказов, услуг, запасов, клиентов, поставщиков, товаров и сотрудников, повышая эффективность и точность бизнес-процессов, а также обеспечивая централизованное хранение данных. Проект демонстрирует применение знаний для решения прикладных задач и представляет функциональную и надёжную систему для предприятия.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125249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68C8-7CDE-8E1D-F69F-0FFD903B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A9892-E78D-23CB-BF55-E12649476FBC}"/>
              </a:ext>
            </a:extLst>
          </p:cNvPr>
          <p:cNvSpPr txBox="1">
            <a:spLocks/>
          </p:cNvSpPr>
          <p:nvPr/>
        </p:nvSpPr>
        <p:spPr>
          <a:xfrm>
            <a:off x="670931" y="2755900"/>
            <a:ext cx="10515600" cy="6731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537467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420</Words>
  <Application>Microsoft Office PowerPoint</Application>
  <PresentationFormat>Широкоэкранный</PresentationFormat>
  <Paragraphs>66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Akulin</dc:creator>
  <cp:lastModifiedBy>Andrei Akulin</cp:lastModifiedBy>
  <cp:revision>1</cp:revision>
  <dcterms:created xsi:type="dcterms:W3CDTF">2026-03-23T16:50:54Z</dcterms:created>
  <dcterms:modified xsi:type="dcterms:W3CDTF">2026-03-23T18:27:42Z</dcterms:modified>
</cp:coreProperties>
</file>